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1" r:id="rId3"/>
    <p:sldId id="282" r:id="rId4"/>
    <p:sldId id="283" r:id="rId5"/>
    <p:sldId id="284" r:id="rId6"/>
    <p:sldId id="257" r:id="rId7"/>
    <p:sldId id="258" r:id="rId8"/>
    <p:sldId id="259" r:id="rId9"/>
    <p:sldId id="260" r:id="rId10"/>
    <p:sldId id="261" r:id="rId11"/>
    <p:sldId id="262" r:id="rId12"/>
    <p:sldId id="263" r:id="rId13"/>
    <p:sldId id="264" r:id="rId14"/>
    <p:sldId id="265" r:id="rId15"/>
    <p:sldId id="266"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5" r:id="rId31"/>
    <p:sldId id="286" r:id="rId32"/>
    <p:sldId id="287" r:id="rId33"/>
    <p:sldId id="288" r:id="rId34"/>
    <p:sldId id="290" r:id="rId35"/>
    <p:sldId id="289" r:id="rId36"/>
    <p:sldId id="2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98C729-7D7B-4F29-BCFB-4DCF1ACCA1E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98C729-7D7B-4F29-BCFB-4DCF1ACCA1E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98C729-7D7B-4F29-BCFB-4DCF1ACCA1E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98C729-7D7B-4F29-BCFB-4DCF1ACCA1E0}"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98C729-7D7B-4F29-BCFB-4DCF1ACCA1E0}"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98C729-7D7B-4F29-BCFB-4DCF1ACCA1E0}"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98C729-7D7B-4F29-BCFB-4DCF1ACCA1E0}"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98C729-7D7B-4F29-BCFB-4DCF1ACCA1E0}"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98C729-7D7B-4F29-BCFB-4DCF1ACCA1E0}"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98C729-7D7B-4F29-BCFB-4DCF1ACCA1E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98C729-7D7B-4F29-BCFB-4DCF1ACCA1E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0F4C93-767D-47DC-8625-A69873496CF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98C729-7D7B-4F29-BCFB-4DCF1ACCA1E0}"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0F4C93-767D-47DC-8625-A69873496CF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Online Food Delivery Analysis</a:t>
            </a:r>
            <a:endParaRPr lang="en-US" dirty="0"/>
          </a:p>
        </p:txBody>
      </p:sp>
      <p:sp>
        <p:nvSpPr>
          <p:cNvPr id="3" name="Subtitle 2"/>
          <p:cNvSpPr>
            <a:spLocks noGrp="1"/>
          </p:cNvSpPr>
          <p:nvPr>
            <p:ph type="subTitle" idx="1"/>
          </p:nvPr>
        </p:nvSpPr>
        <p:spPr>
          <a:xfrm>
            <a:off x="1371600" y="3886200"/>
            <a:ext cx="6400800" cy="2063080"/>
          </a:xfrm>
        </p:spPr>
        <p:txBody>
          <a:bodyPr/>
          <a:lstStyle/>
          <a:p>
            <a:r>
              <a:rPr lang="en-US" dirty="0" smtClean="0"/>
              <a:t>Python  +  SQL </a:t>
            </a:r>
            <a:r>
              <a:rPr lang="en-US" dirty="0" smtClean="0"/>
              <a:t>+ Power BI</a:t>
            </a:r>
            <a:endParaRPr lang="en-US" dirty="0" smtClean="0"/>
          </a:p>
          <a:p>
            <a:endParaRPr lang="en-US" dirty="0" smtClean="0"/>
          </a:p>
          <a:p>
            <a:r>
              <a:rPr lang="en-US" dirty="0" smtClean="0"/>
              <a:t>                                               G.Vidhya</a:t>
            </a:r>
            <a:endParaRPr lang="en-US" dirty="0" smtClean="0"/>
          </a:p>
          <a:p>
            <a:pPr algn="just"/>
            <a:endParaRPr lang="en-US" dirty="0" smtClean="0"/>
          </a:p>
          <a:p>
            <a:pPr algn="just"/>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Tools &amp; Technologies</a:t>
            </a:r>
            <a:br>
              <a:rPr lang="en-US" b="1" dirty="0" smtClean="0"/>
            </a:br>
            <a:endParaRPr lang="en-US" dirty="0"/>
          </a:p>
        </p:txBody>
      </p:sp>
      <p:sp>
        <p:nvSpPr>
          <p:cNvPr id="3" name="Content Placeholder 2"/>
          <p:cNvSpPr>
            <a:spLocks noGrp="1"/>
          </p:cNvSpPr>
          <p:nvPr>
            <p:ph idx="1"/>
          </p:nvPr>
        </p:nvSpPr>
        <p:spPr/>
        <p:txBody>
          <a:bodyPr/>
          <a:lstStyle/>
          <a:p>
            <a:r>
              <a:rPr lang="en-US" dirty="0" smtClean="0"/>
              <a:t>Python </a:t>
            </a:r>
            <a:r>
              <a:rPr lang="en-US" dirty="0" smtClean="0"/>
              <a:t>(Pandas, NumPy, Matplotlib)</a:t>
            </a:r>
          </a:p>
          <a:p>
            <a:r>
              <a:rPr lang="en-US" dirty="0" smtClean="0"/>
              <a:t>SQL (Data extraction &amp; queries)</a:t>
            </a:r>
          </a:p>
          <a:p>
            <a:r>
              <a:rPr lang="en-US" dirty="0" smtClean="0"/>
              <a:t>Power BI </a:t>
            </a:r>
            <a:r>
              <a:rPr lang="en-US" dirty="0" smtClean="0"/>
              <a:t>(</a:t>
            </a:r>
            <a:r>
              <a:rPr lang="en-US" dirty="0" smtClean="0"/>
              <a:t>Dashboard)</a:t>
            </a:r>
          </a:p>
          <a:p>
            <a:r>
              <a:rPr lang="en-US" dirty="0" smtClean="0"/>
              <a:t>Excel (Initial review)</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normAutofit/>
          </a:bodyPr>
          <a:lstStyle/>
          <a:p>
            <a:r>
              <a:rPr lang="en-US" dirty="0" smtClean="0"/>
              <a:t>Online food delivery platforms generate large volumes of data</a:t>
            </a:r>
          </a:p>
          <a:p>
            <a:r>
              <a:rPr lang="en-US" dirty="0" smtClean="0"/>
              <a:t>Business needs insights to:</a:t>
            </a:r>
          </a:p>
          <a:p>
            <a:pPr lvl="1"/>
            <a:r>
              <a:rPr lang="en-US" dirty="0" smtClean="0"/>
              <a:t>Improve delivery efficiency</a:t>
            </a:r>
          </a:p>
          <a:p>
            <a:pPr lvl="1"/>
            <a:r>
              <a:rPr lang="en-US" dirty="0" smtClean="0"/>
              <a:t>Reduce cancellations</a:t>
            </a:r>
          </a:p>
          <a:p>
            <a:pPr lvl="1"/>
            <a:r>
              <a:rPr lang="en-US" dirty="0" smtClean="0"/>
              <a:t>Increase revenue and profit</a:t>
            </a:r>
          </a:p>
          <a:p>
            <a:r>
              <a:rPr lang="en-US" dirty="0" smtClean="0"/>
              <a:t>This project analyzes order, delivery, and revenue data to support business decisions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p:txBody>
          <a:bodyPr/>
          <a:lstStyle/>
          <a:p>
            <a:r>
              <a:rPr lang="en-US" dirty="0" smtClean="0"/>
              <a:t>Analyze order and revenue trends</a:t>
            </a:r>
          </a:p>
          <a:p>
            <a:r>
              <a:rPr lang="en-US" dirty="0" smtClean="0"/>
              <a:t>Measure delivery performance</a:t>
            </a:r>
          </a:p>
          <a:p>
            <a:r>
              <a:rPr lang="en-US" dirty="0" smtClean="0"/>
              <a:t>Identify cancellation patterns</a:t>
            </a:r>
          </a:p>
          <a:p>
            <a:r>
              <a:rPr lang="en-US" dirty="0" smtClean="0"/>
              <a:t>Evaluate customer and restaurant ratings</a:t>
            </a:r>
          </a:p>
          <a:p>
            <a:r>
              <a:rPr lang="en-US" dirty="0" smtClean="0"/>
              <a:t>Build an interactive dashboard for KPIs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Cleaning &amp; </a:t>
            </a:r>
            <a:r>
              <a:rPr lang="en-US" b="1" dirty="0" smtClean="0"/>
              <a:t>Preprocessing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Handling missing values using mean, median, or </a:t>
            </a:r>
            <a:r>
              <a:rPr lang="en-US" dirty="0" smtClean="0"/>
              <a:t>mode</a:t>
            </a:r>
          </a:p>
          <a:p>
            <a:pPr lvl="0"/>
            <a:r>
              <a:rPr lang="en-US" dirty="0" smtClean="0"/>
              <a:t>Correcting invalid values (ratings &gt; 5, negative profit margin)</a:t>
            </a:r>
            <a:br>
              <a:rPr lang="en-US" dirty="0" smtClean="0"/>
            </a:br>
            <a:endParaRPr lang="en-US" dirty="0" smtClean="0"/>
          </a:p>
          <a:p>
            <a:pPr lvl="0"/>
            <a:r>
              <a:rPr lang="en-US" dirty="0" smtClean="0"/>
              <a:t>Standardizing categorical values</a:t>
            </a:r>
            <a:br>
              <a:rPr lang="en-US" dirty="0" smtClean="0"/>
            </a:br>
            <a:endParaRPr lang="en-US" dirty="0" smtClean="0"/>
          </a:p>
          <a:p>
            <a:r>
              <a:rPr lang="en-US" dirty="0" smtClean="0"/>
              <a:t>Ensuring logical </a:t>
            </a:r>
            <a:r>
              <a:rPr lang="en-US" dirty="0" smtClean="0"/>
              <a:t>consistency(</a:t>
            </a:r>
            <a:r>
              <a:rPr lang="en-US" dirty="0" smtClean="0"/>
              <a:t>cancelled orders </a:t>
            </a:r>
            <a:r>
              <a:rPr lang="en-US" dirty="0" err="1" smtClean="0"/>
              <a:t>vs</a:t>
            </a:r>
            <a:r>
              <a:rPr lang="en-US" dirty="0" smtClean="0"/>
              <a:t> </a:t>
            </a:r>
            <a:r>
              <a:rPr lang="en-US" dirty="0" smtClean="0"/>
              <a:t>ratings)</a:t>
            </a:r>
          </a:p>
          <a:p>
            <a:endParaRPr lang="en-US" dirty="0" smtClean="0"/>
          </a:p>
          <a:p>
            <a:r>
              <a:rPr lang="en-US" dirty="0" smtClean="0"/>
              <a:t>Removing or capping outliers (delivery time, order value</a:t>
            </a:r>
            <a:r>
              <a:rPr lang="en-US" dirty="0" smtClean="0"/>
              <a:t>)</a:t>
            </a:r>
          </a:p>
          <a:p>
            <a:pPr lvl="4"/>
            <a:r>
              <a:rPr lang="en-US" dirty="0" smtClean="0"/>
              <a:t>The </a:t>
            </a:r>
            <a:r>
              <a:rPr lang="en-US" dirty="0" smtClean="0"/>
              <a:t>data is right-skewed, but does not contain extreme statistical </a:t>
            </a:r>
            <a:r>
              <a:rPr lang="en-US" dirty="0" smtClean="0"/>
              <a:t>outlier																		</a:t>
            </a:r>
          </a:p>
          <a:p>
            <a:pPr lvl="4"/>
            <a:endParaRPr lang="en-US" dirty="0" smtClean="0"/>
          </a:p>
          <a:p>
            <a:pPr lvl="4"/>
            <a:endParaRPr lang="en-US" dirty="0" smtClean="0"/>
          </a:p>
          <a:p>
            <a:pPr lvl="4"/>
            <a:endParaRPr lang="en-US" dirty="0" smtClean="0"/>
          </a:p>
          <a:p>
            <a:pPr lvl="4"/>
            <a:endParaRPr lang="en-US" dirty="0" smtClean="0"/>
          </a:p>
          <a:p>
            <a:pPr lvl="4"/>
            <a:endParaRPr lang="en-US" dirty="0" smtClean="0"/>
          </a:p>
          <a:p>
            <a:pPr lvl="4"/>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
            </a:r>
            <a:br>
              <a:rPr lang="en-US" dirty="0" smtClean="0"/>
            </a:br>
            <a:r>
              <a:rPr lang="en-US" dirty="0" smtClean="0"/>
              <a:t>Distribution of order values and delivery time</a:t>
            </a:r>
            <a:br>
              <a:rPr lang="en-US" dirty="0" smtClean="0"/>
            </a:br>
            <a:endParaRPr lang="en-US" dirty="0"/>
          </a:p>
        </p:txBody>
      </p:sp>
      <p:sp>
        <p:nvSpPr>
          <p:cNvPr id="3" name="Content Placeholder 2"/>
          <p:cNvSpPr>
            <a:spLocks noGrp="1"/>
          </p:cNvSpPr>
          <p:nvPr>
            <p:ph idx="1"/>
          </p:nvPr>
        </p:nvSpPr>
        <p:spPr/>
        <p:txBody>
          <a:bodyPr/>
          <a:lstStyle/>
          <a:p>
            <a:r>
              <a:rPr lang="en-US" dirty="0" smtClean="0"/>
              <a:t>Order value </a:t>
            </a:r>
            <a:r>
              <a:rPr lang="en-US" dirty="0" err="1" smtClean="0"/>
              <a:t>vs</a:t>
            </a:r>
            <a:r>
              <a:rPr lang="en-US" dirty="0" smtClean="0"/>
              <a:t> Orders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187624" y="2276872"/>
            <a:ext cx="6164263" cy="423862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large number of orders are concentrated in </a:t>
            </a:r>
            <a:r>
              <a:rPr lang="en-US" b="1" dirty="0" smtClean="0"/>
              <a:t>1000-1200</a:t>
            </a:r>
            <a:r>
              <a:rPr lang="en-US" dirty="0" smtClean="0"/>
              <a:t> price range</a:t>
            </a:r>
          </a:p>
          <a:p>
            <a:r>
              <a:rPr lang="en-US" dirty="0" smtClean="0"/>
              <a:t>This is the </a:t>
            </a:r>
            <a:r>
              <a:rPr lang="en-US" b="1" dirty="0" smtClean="0"/>
              <a:t>most common order value range</a:t>
            </a:r>
          </a:p>
          <a:p>
            <a:r>
              <a:rPr lang="en-US" dirty="0" smtClean="0"/>
              <a:t>Orders between </a:t>
            </a:r>
            <a:r>
              <a:rPr lang="en-US" b="1" dirty="0" smtClean="0"/>
              <a:t>₹100 – ₹1000 </a:t>
            </a:r>
            <a:r>
              <a:rPr lang="en-US" dirty="0" smtClean="0"/>
              <a:t>are low to medium value orders. Daily regular users ordering small meals or snacks</a:t>
            </a:r>
          </a:p>
          <a:p>
            <a:r>
              <a:rPr lang="en-US" b="1" dirty="0" smtClean="0"/>
              <a:t>Long tail from ₹2000 to ₹5000</a:t>
            </a:r>
          </a:p>
          <a:p>
            <a:r>
              <a:rPr lang="en-US" dirty="0" smtClean="0"/>
              <a:t>Fewer bars, but spread over a wide range</a:t>
            </a:r>
          </a:p>
          <a:p>
            <a:r>
              <a:rPr lang="en-US" dirty="0" smtClean="0"/>
              <a:t>This is called a </a:t>
            </a:r>
            <a:r>
              <a:rPr lang="en-US" b="1" dirty="0" smtClean="0"/>
              <a:t>right tail.</a:t>
            </a:r>
          </a:p>
          <a:p>
            <a:r>
              <a:rPr lang="en-US" dirty="0" smtClean="0"/>
              <a:t>Shape of the distribution is </a:t>
            </a:r>
            <a:r>
              <a:rPr lang="en-US" b="1" dirty="0" smtClean="0"/>
              <a:t>Right-skewed</a:t>
            </a:r>
            <a:r>
              <a:rPr lang="en-US" dirty="0" smtClean="0"/>
              <a:t> </a:t>
            </a:r>
          </a:p>
          <a:p>
            <a:r>
              <a:rPr lang="en-US" dirty="0" smtClean="0"/>
              <a:t>Because of this skewness:</a:t>
            </a:r>
          </a:p>
          <a:p>
            <a:r>
              <a:rPr lang="en-US" b="1" dirty="0" smtClean="0"/>
              <a:t>Mean (average) order value will be higher</a:t>
            </a:r>
            <a:endParaRPr lang="en-US" dirty="0" smtClean="0"/>
          </a:p>
          <a:p>
            <a:r>
              <a:rPr lang="en-US" b="1" dirty="0" smtClean="0"/>
              <a:t>Median is a better representative value</a:t>
            </a:r>
            <a:endParaRPr lang="en-US" dirty="0" smtClean="0"/>
          </a:p>
          <a:p>
            <a:endParaRPr lang="en-US" dirty="0" smtClean="0"/>
          </a:p>
          <a:p>
            <a:endParaRPr lang="en-US" dirty="0" smtClean="0"/>
          </a:p>
          <a:p>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2" name="Picture 4"/>
          <p:cNvPicPr>
            <a:picLocks noGrp="1" noChangeAspect="1" noChangeArrowheads="1"/>
          </p:cNvPicPr>
          <p:nvPr>
            <p:ph idx="1"/>
          </p:nvPr>
        </p:nvPicPr>
        <p:blipFill>
          <a:blip r:embed="rId2" cstate="print"/>
          <a:srcRect/>
          <a:stretch>
            <a:fillRect/>
          </a:stretch>
        </p:blipFill>
        <p:spPr bwMode="auto">
          <a:xfrm>
            <a:off x="1835696" y="1844824"/>
            <a:ext cx="5506219" cy="425827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r>
              <a:rPr lang="en-US" dirty="0"/>
              <a:t>T</a:t>
            </a:r>
            <a:r>
              <a:rPr lang="en-US" dirty="0" smtClean="0"/>
              <a:t>here is </a:t>
            </a:r>
            <a:r>
              <a:rPr lang="en-US" b="1" dirty="0" smtClean="0"/>
              <a:t>no statistical outliers </a:t>
            </a:r>
            <a:r>
              <a:rPr lang="en-US" dirty="0" smtClean="0"/>
              <a:t>were detected using the IQR method, indicating that high-value orders are a normal part of the business rather than anomalies.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Delivery time </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115616" y="1916832"/>
            <a:ext cx="7563906" cy="440116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delivery time distribution is highly right-skewed, with a significant concentration of orders around </a:t>
            </a:r>
            <a:r>
              <a:rPr lang="en-US" dirty="0" smtClean="0"/>
              <a:t>110-120 </a:t>
            </a:r>
            <a:r>
              <a:rPr lang="en-US" dirty="0" smtClean="0"/>
              <a:t>minutes. While most deliveries occur within a reasonable time frame, a long right tail indicates delayed deliveries that may impact customer satisfaction.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5" name="Picture 1"/>
          <p:cNvPicPr>
            <a:picLocks noGrp="1" noChangeAspect="1" noChangeArrowheads="1"/>
          </p:cNvPicPr>
          <p:nvPr>
            <p:ph idx="1"/>
          </p:nvPr>
        </p:nvPicPr>
        <p:blipFill>
          <a:blip r:embed="rId2" cstate="print"/>
          <a:srcRect/>
          <a:stretch>
            <a:fillRect/>
          </a:stretch>
        </p:blipFill>
        <p:spPr bwMode="auto">
          <a:xfrm>
            <a:off x="1921869" y="1600200"/>
            <a:ext cx="5300262" cy="452596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The </a:t>
            </a:r>
            <a:r>
              <a:rPr lang="en-US" i="1" dirty="0" err="1" smtClean="0"/>
              <a:t>boxplot</a:t>
            </a:r>
            <a:r>
              <a:rPr lang="en-US" i="1" dirty="0" smtClean="0"/>
              <a:t> of delivery time for delivered orders shows a wide spread with a median of approximately 110 minutes. The </a:t>
            </a:r>
            <a:r>
              <a:rPr lang="en-US" i="1" dirty="0" err="1" smtClean="0"/>
              <a:t>interquartile</a:t>
            </a:r>
            <a:r>
              <a:rPr lang="en-US" i="1" dirty="0" smtClean="0"/>
              <a:t> range lies between roughly 50 and 160 minutes. No significant outliers were detected using the IQR method, indicating that long delivery times are part of the normal operational range rather than data anomalies.</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City-wise order analysis</a:t>
            </a:r>
            <a:endParaRPr lang="en-US" dirty="0"/>
          </a:p>
        </p:txBody>
      </p:sp>
      <p:pic>
        <p:nvPicPr>
          <p:cNvPr id="14337" name="Picture 1"/>
          <p:cNvPicPr>
            <a:picLocks noGrp="1" noChangeAspect="1" noChangeArrowheads="1"/>
          </p:cNvPicPr>
          <p:nvPr>
            <p:ph idx="1"/>
          </p:nvPr>
        </p:nvPicPr>
        <p:blipFill>
          <a:blip r:embed="rId2" cstate="print"/>
          <a:srcRect/>
          <a:stretch>
            <a:fillRect/>
          </a:stretch>
        </p:blipFill>
        <p:spPr bwMode="auto">
          <a:xfrm>
            <a:off x="1085205" y="1600200"/>
            <a:ext cx="6973590" cy="4525963"/>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 Wise Order</a:t>
            </a:r>
            <a:endParaRPr lang="en-US" dirty="0"/>
          </a:p>
        </p:txBody>
      </p:sp>
      <p:sp>
        <p:nvSpPr>
          <p:cNvPr id="3" name="Content Placeholder 2"/>
          <p:cNvSpPr>
            <a:spLocks noGrp="1"/>
          </p:cNvSpPr>
          <p:nvPr>
            <p:ph idx="1"/>
          </p:nvPr>
        </p:nvSpPr>
        <p:spPr/>
        <p:txBody>
          <a:bodyPr>
            <a:normAutofit lnSpcReduction="10000"/>
          </a:bodyPr>
          <a:lstStyle/>
          <a:p>
            <a:r>
              <a:rPr lang="en-US" dirty="0" smtClean="0"/>
              <a:t>Hyderabad has the </a:t>
            </a:r>
            <a:r>
              <a:rPr lang="en-US" b="1" dirty="0" smtClean="0"/>
              <a:t>highest number of orders</a:t>
            </a:r>
            <a:r>
              <a:rPr lang="en-US" dirty="0" smtClean="0"/>
              <a:t> among all cities.</a:t>
            </a:r>
          </a:p>
          <a:p>
            <a:r>
              <a:rPr lang="en-US" dirty="0" smtClean="0"/>
              <a:t>Bangalore, Delhi, Mumbai, and Chennai have </a:t>
            </a:r>
            <a:r>
              <a:rPr lang="en-US" b="1" dirty="0" smtClean="0"/>
              <a:t>similar order counts</a:t>
            </a:r>
            <a:r>
              <a:rPr lang="en-US" dirty="0" smtClean="0"/>
              <a:t>.</a:t>
            </a:r>
          </a:p>
          <a:p>
            <a:r>
              <a:rPr lang="en-US" dirty="0" smtClean="0"/>
              <a:t>This shows that demand is </a:t>
            </a:r>
            <a:r>
              <a:rPr lang="en-US" b="1" dirty="0" smtClean="0"/>
              <a:t>balanced across these metro cities</a:t>
            </a:r>
            <a:r>
              <a:rPr lang="en-US" dirty="0" smtClean="0"/>
              <a:t>.</a:t>
            </a:r>
          </a:p>
          <a:p>
            <a:r>
              <a:rPr lang="en-US" dirty="0" smtClean="0"/>
              <a:t>Hyderabad is a </a:t>
            </a:r>
            <a:r>
              <a:rPr lang="en-US" b="1" dirty="0" smtClean="0"/>
              <a:t>key market</a:t>
            </a:r>
            <a:r>
              <a:rPr lang="en-US" dirty="0" smtClean="0"/>
              <a:t> for the platform.</a:t>
            </a:r>
          </a:p>
          <a:p>
            <a:r>
              <a:rPr lang="en-US" dirty="0" smtClean="0"/>
              <a:t>Focusing on Hyderabad can help improve </a:t>
            </a:r>
            <a:r>
              <a:rPr lang="en-US" b="1" dirty="0" smtClean="0"/>
              <a:t>customer engagement and revenue growth</a:t>
            </a:r>
            <a:r>
              <a:rPr lang="en-US" dirty="0" smtClean="0"/>
              <a: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 wise revenue</a:t>
            </a:r>
            <a:endParaRPr lang="en-US" dirty="0"/>
          </a:p>
        </p:txBody>
      </p:sp>
      <p:pic>
        <p:nvPicPr>
          <p:cNvPr id="24578" name="Picture 2"/>
          <p:cNvPicPr>
            <a:picLocks noGrp="1" noChangeAspect="1" noChangeArrowheads="1"/>
          </p:cNvPicPr>
          <p:nvPr>
            <p:ph idx="1"/>
          </p:nvPr>
        </p:nvPicPr>
        <p:blipFill>
          <a:blip r:embed="rId2" cstate="print"/>
          <a:srcRect/>
          <a:stretch>
            <a:fillRect/>
          </a:stretch>
        </p:blipFill>
        <p:spPr bwMode="auto">
          <a:xfrm>
            <a:off x="1082842" y="1600200"/>
            <a:ext cx="6978315" cy="4525963"/>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 wise revenue</a:t>
            </a:r>
            <a:endParaRPr lang="en-US" dirty="0"/>
          </a:p>
        </p:txBody>
      </p:sp>
      <p:sp>
        <p:nvSpPr>
          <p:cNvPr id="3" name="Content Placeholder 2"/>
          <p:cNvSpPr>
            <a:spLocks noGrp="1"/>
          </p:cNvSpPr>
          <p:nvPr>
            <p:ph idx="1"/>
          </p:nvPr>
        </p:nvSpPr>
        <p:spPr/>
        <p:txBody>
          <a:bodyPr/>
          <a:lstStyle/>
          <a:p>
            <a:r>
              <a:rPr lang="en-US" dirty="0" smtClean="0"/>
              <a:t>Hyderabad generates the </a:t>
            </a:r>
            <a:r>
              <a:rPr lang="en-US" b="1" dirty="0" smtClean="0"/>
              <a:t>highest total revenue</a:t>
            </a:r>
            <a:r>
              <a:rPr lang="en-US" dirty="0" smtClean="0"/>
              <a:t> among all cities.</a:t>
            </a:r>
          </a:p>
          <a:p>
            <a:r>
              <a:rPr lang="en-US" dirty="0" smtClean="0"/>
              <a:t>Revenue from Hyderabad is </a:t>
            </a:r>
            <a:r>
              <a:rPr lang="en-US" b="1" dirty="0" smtClean="0"/>
              <a:t>significantly higher</a:t>
            </a:r>
            <a:r>
              <a:rPr lang="en-US" dirty="0" smtClean="0"/>
              <a:t> than other cities.</a:t>
            </a:r>
          </a:p>
          <a:p>
            <a:r>
              <a:rPr lang="en-US" dirty="0" smtClean="0"/>
              <a:t>Bangalore is the </a:t>
            </a:r>
            <a:r>
              <a:rPr lang="en-US" b="1" dirty="0" smtClean="0"/>
              <a:t>second-highest revenue–generating city</a:t>
            </a:r>
            <a:r>
              <a:rPr lang="en-US" dirty="0" smtClean="0"/>
              <a:t>.</a:t>
            </a:r>
          </a:p>
          <a:p>
            <a:r>
              <a:rPr lang="en-US" dirty="0" smtClean="0"/>
              <a:t>Delhi, Chennai, and Mumbai show </a:t>
            </a:r>
            <a:r>
              <a:rPr lang="en-US" b="1" dirty="0" smtClean="0"/>
              <a:t>similar revenue levels</a:t>
            </a:r>
            <a:r>
              <a:rPr lang="en-US" dirty="0" smtClean="0"/>
              <a: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 wise cancel reason</a:t>
            </a:r>
            <a:endParaRPr lang="en-US" dirty="0"/>
          </a:p>
        </p:txBody>
      </p:sp>
      <p:pic>
        <p:nvPicPr>
          <p:cNvPr id="25602" name="Picture 2"/>
          <p:cNvPicPr>
            <a:picLocks noGrp="1" noChangeAspect="1" noChangeArrowheads="1"/>
          </p:cNvPicPr>
          <p:nvPr>
            <p:ph idx="1"/>
          </p:nvPr>
        </p:nvPicPr>
        <p:blipFill>
          <a:blip r:embed="rId2" cstate="print"/>
          <a:srcRect/>
          <a:stretch>
            <a:fillRect/>
          </a:stretch>
        </p:blipFill>
        <p:spPr bwMode="auto">
          <a:xfrm>
            <a:off x="683568" y="1916832"/>
            <a:ext cx="7662211" cy="452596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 wise cancel reason</a:t>
            </a:r>
            <a:endParaRPr lang="en-US" dirty="0"/>
          </a:p>
        </p:txBody>
      </p:sp>
      <p:sp>
        <p:nvSpPr>
          <p:cNvPr id="3" name="Content Placeholder 2"/>
          <p:cNvSpPr>
            <a:spLocks noGrp="1"/>
          </p:cNvSpPr>
          <p:nvPr>
            <p:ph idx="1"/>
          </p:nvPr>
        </p:nvSpPr>
        <p:spPr/>
        <p:txBody>
          <a:bodyPr/>
          <a:lstStyle/>
          <a:p>
            <a:r>
              <a:rPr lang="en-US" dirty="0" smtClean="0"/>
              <a:t>Hyderabad shows </a:t>
            </a:r>
            <a:r>
              <a:rPr lang="en-US" b="1" dirty="0" smtClean="0"/>
              <a:t>higher cancellation counts</a:t>
            </a:r>
            <a:r>
              <a:rPr lang="en-US" dirty="0" smtClean="0"/>
              <a:t> compared to other cities.</a:t>
            </a:r>
          </a:p>
          <a:p>
            <a:r>
              <a:rPr lang="en-US" dirty="0" smtClean="0"/>
              <a:t>Cancellation patterns are </a:t>
            </a:r>
            <a:r>
              <a:rPr lang="en-US" b="1" dirty="0" smtClean="0"/>
              <a:t>similar across metros</a:t>
            </a:r>
            <a:r>
              <a:rPr lang="en-US" dirty="0" smtClean="0"/>
              <a:t>, indicating operational issues rather than location-specific problems.</a:t>
            </a:r>
          </a:p>
          <a:p>
            <a:r>
              <a:rPr lang="en-US" dirty="0" smtClean="0"/>
              <a:t>Late delivery is the </a:t>
            </a:r>
            <a:r>
              <a:rPr lang="en-US" b="1" dirty="0" smtClean="0"/>
              <a:t>most common cancellation reason across all cities</a:t>
            </a:r>
            <a:r>
              <a:rPr lang="en-US" dirty="0" smtClean="0"/>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Cuisine </a:t>
            </a:r>
            <a:r>
              <a:rPr lang="en-US" dirty="0" smtClean="0"/>
              <a:t>wise analysis</a:t>
            </a:r>
            <a:endParaRPr lang="en-US" dirty="0"/>
          </a:p>
        </p:txBody>
      </p:sp>
      <p:pic>
        <p:nvPicPr>
          <p:cNvPr id="26627" name="Picture 3"/>
          <p:cNvPicPr>
            <a:picLocks noGrp="1" noChangeAspect="1" noChangeArrowheads="1"/>
          </p:cNvPicPr>
          <p:nvPr>
            <p:ph idx="1"/>
          </p:nvPr>
        </p:nvPicPr>
        <p:blipFill>
          <a:blip r:embed="rId2" cstate="print"/>
          <a:srcRect/>
          <a:stretch>
            <a:fillRect/>
          </a:stretch>
        </p:blipFill>
        <p:spPr bwMode="auto">
          <a:xfrm>
            <a:off x="668832" y="1600200"/>
            <a:ext cx="7806336" cy="4525963"/>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Cuisine wise analysis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Indian </a:t>
            </a:r>
            <a:r>
              <a:rPr lang="en-US" b="1" dirty="0" smtClean="0"/>
              <a:t>cuisine has the highest number of orders</a:t>
            </a:r>
            <a:r>
              <a:rPr lang="en-US" dirty="0" smtClean="0"/>
              <a:t>.</a:t>
            </a:r>
          </a:p>
          <a:p>
            <a:r>
              <a:rPr lang="en-US" dirty="0" smtClean="0"/>
              <a:t>Other cuisines show </a:t>
            </a:r>
            <a:r>
              <a:rPr lang="en-US" b="1" dirty="0" smtClean="0"/>
              <a:t>almost similar order counts</a:t>
            </a:r>
            <a:r>
              <a:rPr lang="en-US" dirty="0" smtClean="0"/>
              <a:t>.</a:t>
            </a:r>
          </a:p>
          <a:p>
            <a:r>
              <a:rPr lang="en-US" dirty="0" smtClean="0"/>
              <a:t>This indicates a </a:t>
            </a:r>
            <a:r>
              <a:rPr lang="en-US" b="1" dirty="0" smtClean="0"/>
              <a:t>strong customer preference for Indian food</a:t>
            </a:r>
            <a:r>
              <a:rPr lang="en-US" dirty="0" smtClean="0"/>
              <a:t>.</a:t>
            </a:r>
          </a:p>
          <a:p>
            <a:r>
              <a:rPr lang="en-US" dirty="0" smtClean="0"/>
              <a:t>Demand for non-Indian cuisines is </a:t>
            </a:r>
            <a:r>
              <a:rPr lang="en-US" b="1" dirty="0" smtClean="0"/>
              <a:t>evenly distributed</a:t>
            </a:r>
            <a:r>
              <a:rPr lang="en-US" dirty="0" smtClean="0"/>
              <a:t>.</a:t>
            </a:r>
          </a:p>
          <a:p>
            <a:r>
              <a:rPr lang="en-US" dirty="0" smtClean="0"/>
              <a:t>Indian cuisine plays a </a:t>
            </a:r>
            <a:r>
              <a:rPr lang="en-US" b="1" dirty="0" smtClean="0"/>
              <a:t>major role in total order volume</a:t>
            </a:r>
            <a:r>
              <a:rPr lang="en-US" dirty="0" smtClean="0"/>
              <a:t>.</a:t>
            </a:r>
          </a:p>
          <a:p>
            <a:r>
              <a:rPr lang="en-US" dirty="0" smtClean="0"/>
              <a:t>Promoting Indian cuisine can further </a:t>
            </a:r>
            <a:r>
              <a:rPr lang="en-US" b="1" dirty="0" smtClean="0"/>
              <a:t>increase engagement and revenue</a:t>
            </a:r>
            <a:r>
              <a:rPr lang="en-US" dirty="0" smtClean="0"/>
              <a: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Weekday </a:t>
            </a:r>
            <a:r>
              <a:rPr lang="en-US" dirty="0" err="1" smtClean="0"/>
              <a:t>vs</a:t>
            </a:r>
            <a:r>
              <a:rPr lang="en-US" dirty="0" smtClean="0"/>
              <a:t> </a:t>
            </a:r>
            <a:r>
              <a:rPr lang="en-US" dirty="0" smtClean="0"/>
              <a:t>weekend analysis</a:t>
            </a:r>
            <a:endParaRPr lang="en-US" dirty="0"/>
          </a:p>
        </p:txBody>
      </p:sp>
      <p:pic>
        <p:nvPicPr>
          <p:cNvPr id="27653" name="Picture 5"/>
          <p:cNvPicPr>
            <a:picLocks noGrp="1" noChangeAspect="1" noChangeArrowheads="1"/>
          </p:cNvPicPr>
          <p:nvPr>
            <p:ph idx="1"/>
          </p:nvPr>
        </p:nvPicPr>
        <p:blipFill>
          <a:blip r:embed="rId2" cstate="print"/>
          <a:srcRect/>
          <a:stretch>
            <a:fillRect/>
          </a:stretch>
        </p:blipFill>
        <p:spPr bwMode="auto">
          <a:xfrm>
            <a:off x="1806133" y="1600200"/>
            <a:ext cx="5531733" cy="4525963"/>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Weekday </a:t>
            </a:r>
            <a:r>
              <a:rPr lang="en-US" dirty="0" err="1" smtClean="0"/>
              <a:t>vs</a:t>
            </a:r>
            <a:r>
              <a:rPr lang="en-US" dirty="0" smtClean="0"/>
              <a:t> weekend analysis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Weekday orders are higher than weekend orders</a:t>
            </a:r>
            <a:r>
              <a:rPr lang="en-US" dirty="0" smtClean="0"/>
              <a:t>.</a:t>
            </a:r>
          </a:p>
          <a:p>
            <a:r>
              <a:rPr lang="en-US" dirty="0" smtClean="0"/>
              <a:t>Customers place </a:t>
            </a:r>
            <a:r>
              <a:rPr lang="en-US" b="1" dirty="0" smtClean="0"/>
              <a:t>more food orders on weekdays</a:t>
            </a:r>
            <a:r>
              <a:rPr lang="en-US" dirty="0" smtClean="0"/>
              <a:t>.</a:t>
            </a:r>
          </a:p>
          <a:p>
            <a:r>
              <a:rPr lang="en-US" dirty="0" smtClean="0"/>
              <a:t>This suggests orders are driven by </a:t>
            </a:r>
            <a:r>
              <a:rPr lang="en-US" b="1" dirty="0" smtClean="0"/>
              <a:t>workdays, office meals, and routine schedules</a:t>
            </a:r>
            <a:r>
              <a:rPr lang="en-US" dirty="0" smtClean="0"/>
              <a:t>.</a:t>
            </a:r>
          </a:p>
          <a:p>
            <a:r>
              <a:rPr lang="en-US" dirty="0" smtClean="0"/>
              <a:t>Weekend demand is </a:t>
            </a:r>
            <a:r>
              <a:rPr lang="en-US" b="1" dirty="0" smtClean="0"/>
              <a:t>lower in comparison</a:t>
            </a:r>
            <a:r>
              <a:rPr lang="en-US" dirty="0" smtClean="0"/>
              <a:t>.</a:t>
            </a:r>
          </a:p>
          <a:p>
            <a:r>
              <a:rPr lang="en-US" dirty="0" smtClean="0"/>
              <a:t>Weekday demand represents the </a:t>
            </a:r>
            <a:r>
              <a:rPr lang="en-US" b="1" dirty="0" smtClean="0"/>
              <a:t>core business volume</a:t>
            </a:r>
            <a:r>
              <a:rPr lang="en-US" dirty="0" smtClean="0"/>
              <a:t> for the platform.</a:t>
            </a:r>
          </a:p>
          <a:p>
            <a:r>
              <a:rPr lang="en-US" dirty="0" smtClean="0"/>
              <a:t>Strategies like </a:t>
            </a:r>
            <a:r>
              <a:rPr lang="en-US" b="1" dirty="0" smtClean="0"/>
              <a:t>office lunch deals and weekday subscriptions</a:t>
            </a:r>
            <a:r>
              <a:rPr lang="en-US" dirty="0" smtClean="0"/>
              <a:t> can increase revenue further</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Distance </a:t>
            </a:r>
            <a:r>
              <a:rPr lang="en-US" dirty="0" err="1"/>
              <a:t>vs</a:t>
            </a:r>
            <a:r>
              <a:rPr lang="en-US" dirty="0"/>
              <a:t> delivery delay relationship</a:t>
            </a:r>
            <a:br>
              <a:rPr lang="en-US" dirty="0"/>
            </a:br>
            <a:endParaRPr lang="en-US" dirty="0"/>
          </a:p>
        </p:txBody>
      </p:sp>
      <p:pic>
        <p:nvPicPr>
          <p:cNvPr id="28674" name="Picture 2"/>
          <p:cNvPicPr>
            <a:picLocks noGrp="1" noChangeAspect="1" noChangeArrowheads="1"/>
          </p:cNvPicPr>
          <p:nvPr>
            <p:ph idx="1"/>
          </p:nvPr>
        </p:nvPicPr>
        <p:blipFill>
          <a:blip r:embed="rId2" cstate="print"/>
          <a:srcRect/>
          <a:stretch>
            <a:fillRect/>
          </a:stretch>
        </p:blipFill>
        <p:spPr bwMode="auto">
          <a:xfrm>
            <a:off x="1483449" y="1600200"/>
            <a:ext cx="6177101" cy="4525963"/>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Delivery time generally </a:t>
            </a:r>
            <a:r>
              <a:rPr lang="en-US" b="1" dirty="0" smtClean="0"/>
              <a:t>increases as distance increases</a:t>
            </a:r>
            <a:r>
              <a:rPr lang="en-US" dirty="0" smtClean="0"/>
              <a:t>.</a:t>
            </a:r>
          </a:p>
          <a:p>
            <a:r>
              <a:rPr lang="en-US" dirty="0" smtClean="0"/>
              <a:t>Short-distance orders are delivered </a:t>
            </a:r>
            <a:r>
              <a:rPr lang="en-US" b="1" dirty="0" smtClean="0"/>
              <a:t>faster</a:t>
            </a:r>
            <a:r>
              <a:rPr lang="en-US" dirty="0" smtClean="0"/>
              <a:t>.</a:t>
            </a:r>
          </a:p>
          <a:p>
            <a:r>
              <a:rPr lang="en-US" dirty="0" smtClean="0"/>
              <a:t>Long-distance orders show </a:t>
            </a:r>
            <a:r>
              <a:rPr lang="en-US" b="1" dirty="0" smtClean="0"/>
              <a:t>higher delivery times</a:t>
            </a:r>
            <a:r>
              <a:rPr lang="en-US" dirty="0" smtClean="0"/>
              <a:t>.</a:t>
            </a:r>
          </a:p>
          <a:p>
            <a:r>
              <a:rPr lang="en-US" dirty="0" smtClean="0"/>
              <a:t>Some long-distance orders are delivered quickly, indicating </a:t>
            </a:r>
            <a:r>
              <a:rPr lang="en-US" b="1" dirty="0" smtClean="0"/>
              <a:t>efficient routing</a:t>
            </a:r>
            <a:r>
              <a:rPr lang="en-US" dirty="0" smtClean="0"/>
              <a:t>.</a:t>
            </a:r>
          </a:p>
          <a:p>
            <a:r>
              <a:rPr lang="en-US" dirty="0" smtClean="0"/>
              <a:t>A few points with very high delivery time indicate </a:t>
            </a:r>
            <a:r>
              <a:rPr lang="en-US" b="1" dirty="0" smtClean="0"/>
              <a:t>possible delays or outliers</a:t>
            </a:r>
            <a:r>
              <a:rPr lang="en-US" dirty="0" smtClean="0"/>
              <a:t>.</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Cancellation reasons analysis</a:t>
            </a:r>
          </a:p>
        </p:txBody>
      </p:sp>
      <p:pic>
        <p:nvPicPr>
          <p:cNvPr id="29699" name="Picture 3"/>
          <p:cNvPicPr>
            <a:picLocks noGrp="1" noChangeAspect="1" noChangeArrowheads="1"/>
          </p:cNvPicPr>
          <p:nvPr>
            <p:ph idx="1"/>
          </p:nvPr>
        </p:nvPicPr>
        <p:blipFill>
          <a:blip r:embed="rId2" cstate="print"/>
          <a:srcRect/>
          <a:stretch>
            <a:fillRect/>
          </a:stretch>
        </p:blipFill>
        <p:spPr bwMode="auto">
          <a:xfrm>
            <a:off x="827584" y="1844824"/>
            <a:ext cx="7261336" cy="4525963"/>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Cancellation reasons analysis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a:t>
            </a:r>
            <a:r>
              <a:rPr lang="en-US" b="1" dirty="0" smtClean="0"/>
              <a:t>ate delivery is the top cancellation reason</a:t>
            </a:r>
            <a:r>
              <a:rPr lang="en-US" dirty="0" smtClean="0"/>
              <a:t>.</a:t>
            </a:r>
          </a:p>
          <a:p>
            <a:r>
              <a:rPr lang="en-US" dirty="0" smtClean="0"/>
              <a:t>It accounts for the </a:t>
            </a:r>
            <a:r>
              <a:rPr lang="en-US" b="1" dirty="0" smtClean="0"/>
              <a:t>highest number of cancelled orders</a:t>
            </a:r>
            <a:r>
              <a:rPr lang="en-US" dirty="0" smtClean="0"/>
              <a:t>.</a:t>
            </a:r>
          </a:p>
          <a:p>
            <a:r>
              <a:rPr lang="en-US" dirty="0" smtClean="0"/>
              <a:t>All other cancellation reasons occur in </a:t>
            </a:r>
            <a:r>
              <a:rPr lang="en-US" b="1" dirty="0" smtClean="0"/>
              <a:t>almost equal numbers</a:t>
            </a:r>
            <a:r>
              <a:rPr lang="en-US" dirty="0" smtClean="0"/>
              <a:t>.</a:t>
            </a:r>
          </a:p>
          <a:p>
            <a:r>
              <a:rPr lang="en-US" dirty="0" smtClean="0"/>
              <a:t>This indicates that </a:t>
            </a:r>
            <a:r>
              <a:rPr lang="en-US" b="1" dirty="0" smtClean="0"/>
              <a:t>delivery delays are the primary operational issue</a:t>
            </a:r>
            <a:r>
              <a:rPr lang="en-US" dirty="0" smtClean="0"/>
              <a:t>.</a:t>
            </a:r>
          </a:p>
          <a:p>
            <a:r>
              <a:rPr lang="en-US" dirty="0" smtClean="0"/>
              <a:t>Improving delivery speed can </a:t>
            </a:r>
            <a:r>
              <a:rPr lang="en-US" b="1" dirty="0" smtClean="0"/>
              <a:t>significantly reduce cancellations</a:t>
            </a:r>
            <a:endParaRPr lang="en-US"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
            </a:r>
            <a:br>
              <a:rPr lang="en-US" dirty="0"/>
            </a:br>
            <a:r>
              <a:rPr lang="en-US" dirty="0" smtClean="0"/>
              <a:t>Correlation analysis among numeric features</a:t>
            </a:r>
            <a:r>
              <a:rPr lang="en-US" dirty="0"/>
              <a:t/>
            </a:r>
            <a:br>
              <a:rPr lang="en-US" dirty="0"/>
            </a:br>
            <a:endParaRPr lang="en-US" dirty="0"/>
          </a:p>
        </p:txBody>
      </p:sp>
      <p:pic>
        <p:nvPicPr>
          <p:cNvPr id="30722" name="Picture 2"/>
          <p:cNvPicPr>
            <a:picLocks noGrp="1" noChangeAspect="1" noChangeArrowheads="1"/>
          </p:cNvPicPr>
          <p:nvPr>
            <p:ph idx="1"/>
          </p:nvPr>
        </p:nvPicPr>
        <p:blipFill>
          <a:blip r:embed="rId2" cstate="print"/>
          <a:srcRect/>
          <a:stretch>
            <a:fillRect/>
          </a:stretch>
        </p:blipFill>
        <p:spPr bwMode="auto">
          <a:xfrm>
            <a:off x="1819508" y="1600200"/>
            <a:ext cx="5504984" cy="4525963"/>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Order value and Final amount are perfectly correlated(1)</a:t>
            </a:r>
          </a:p>
          <a:p>
            <a:r>
              <a:rPr lang="en-US" dirty="0" smtClean="0"/>
              <a:t>Discount applied has very week relationship with Final amount(-0.07)</a:t>
            </a:r>
          </a:p>
          <a:p>
            <a:r>
              <a:rPr lang="en-US" dirty="0" smtClean="0"/>
              <a:t>Delivery time and Distance have almost no correlation with other variables</a:t>
            </a:r>
          </a:p>
          <a:p>
            <a:r>
              <a:rPr lang="en-US" dirty="0" smtClean="0"/>
              <a:t>Rating are not strongly related to numeric values</a:t>
            </a:r>
          </a:p>
          <a:p>
            <a:r>
              <a:rPr lang="en-US" dirty="0" smtClean="0"/>
              <a:t>Profit margin has no strong correlation with other variables.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Storage (MySQL)</a:t>
            </a:r>
            <a:endParaRPr lang="en-US" dirty="0"/>
          </a:p>
        </p:txBody>
      </p:sp>
      <p:sp>
        <p:nvSpPr>
          <p:cNvPr id="3" name="Content Placeholder 2"/>
          <p:cNvSpPr>
            <a:spLocks noGrp="1"/>
          </p:cNvSpPr>
          <p:nvPr>
            <p:ph idx="1"/>
          </p:nvPr>
        </p:nvSpPr>
        <p:spPr/>
        <p:txBody>
          <a:bodyPr/>
          <a:lstStyle/>
          <a:p>
            <a:pPr lvl="0"/>
            <a:r>
              <a:rPr lang="en-US" dirty="0" smtClean="0"/>
              <a:t>Cleaned data can be stored in </a:t>
            </a:r>
            <a:r>
              <a:rPr lang="en-US" b="1" dirty="0" smtClean="0"/>
              <a:t>MySQL</a:t>
            </a:r>
          </a:p>
          <a:p>
            <a:pPr lvl="0"/>
            <a:r>
              <a:rPr lang="en-US" dirty="0" smtClean="0"/>
              <a:t>Data inserted using SQLAlchemy </a:t>
            </a:r>
            <a:r>
              <a:rPr lang="en-US" b="1" dirty="0" smtClean="0"/>
              <a:t/>
            </a:r>
            <a:br>
              <a:rPr lang="en-US" b="1" dirty="0" smtClean="0"/>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Analyst Tasks</a:t>
            </a:r>
            <a:endParaRPr lang="en-US" dirty="0"/>
          </a:p>
        </p:txBody>
      </p:sp>
      <p:sp>
        <p:nvSpPr>
          <p:cNvPr id="3" name="Content Placeholder 2"/>
          <p:cNvSpPr>
            <a:spLocks noGrp="1"/>
          </p:cNvSpPr>
          <p:nvPr>
            <p:ph idx="1"/>
          </p:nvPr>
        </p:nvSpPr>
        <p:spPr/>
        <p:txBody>
          <a:bodyPr/>
          <a:lstStyle/>
          <a:p>
            <a:r>
              <a:rPr lang="en-US" b="1" dirty="0" smtClean="0"/>
              <a:t>Customer &amp; Order </a:t>
            </a:r>
            <a:r>
              <a:rPr lang="en-US" b="1" dirty="0" smtClean="0"/>
              <a:t>Analysis</a:t>
            </a:r>
          </a:p>
          <a:p>
            <a:r>
              <a:rPr lang="en-US" b="1" dirty="0" smtClean="0"/>
              <a:t>Revenue &amp; Profit Analysis</a:t>
            </a:r>
          </a:p>
          <a:p>
            <a:r>
              <a:rPr lang="en-US" b="1" dirty="0" smtClean="0"/>
              <a:t>Delivery Performance</a:t>
            </a:r>
          </a:p>
          <a:p>
            <a:r>
              <a:rPr lang="en-US" b="1" dirty="0" smtClean="0"/>
              <a:t>Restaurant Performance</a:t>
            </a:r>
          </a:p>
          <a:p>
            <a:r>
              <a:rPr lang="en-US" b="1" dirty="0" smtClean="0"/>
              <a:t>Operational Insights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DASHBOARD - POWER-BI</a:t>
            </a:r>
            <a:endParaRPr lang="en-US" dirty="0"/>
          </a:p>
        </p:txBody>
      </p:sp>
      <p:sp>
        <p:nvSpPr>
          <p:cNvPr id="3" name="Content Placeholder 2"/>
          <p:cNvSpPr>
            <a:spLocks noGrp="1"/>
          </p:cNvSpPr>
          <p:nvPr>
            <p:ph idx="1"/>
          </p:nvPr>
        </p:nvSpPr>
        <p:spPr/>
        <p:txBody>
          <a:bodyPr>
            <a:normAutofit fontScale="77500" lnSpcReduction="20000"/>
          </a:bodyPr>
          <a:lstStyle/>
          <a:p>
            <a:pPr lvl="0"/>
            <a:r>
              <a:rPr lang="en-US" dirty="0" smtClean="0"/>
              <a:t>Total Orders</a:t>
            </a:r>
            <a:br>
              <a:rPr lang="en-US" dirty="0" smtClean="0"/>
            </a:br>
            <a:endParaRPr lang="en-US" dirty="0" smtClean="0"/>
          </a:p>
          <a:p>
            <a:pPr lvl="0"/>
            <a:r>
              <a:rPr lang="en-US" dirty="0" smtClean="0"/>
              <a:t>Total Revenue</a:t>
            </a:r>
            <a:br>
              <a:rPr lang="en-US" dirty="0" smtClean="0"/>
            </a:br>
            <a:endParaRPr lang="en-US" dirty="0" smtClean="0"/>
          </a:p>
          <a:p>
            <a:pPr lvl="0"/>
            <a:r>
              <a:rPr lang="en-US" dirty="0" smtClean="0"/>
              <a:t>Average Order Value</a:t>
            </a:r>
            <a:br>
              <a:rPr lang="en-US" dirty="0" smtClean="0"/>
            </a:br>
            <a:endParaRPr lang="en-US" dirty="0" smtClean="0"/>
          </a:p>
          <a:p>
            <a:pPr lvl="0"/>
            <a:r>
              <a:rPr lang="en-US" dirty="0" smtClean="0"/>
              <a:t>Average Delivery Time</a:t>
            </a:r>
            <a:br>
              <a:rPr lang="en-US" dirty="0" smtClean="0"/>
            </a:br>
            <a:endParaRPr lang="en-US" dirty="0" smtClean="0"/>
          </a:p>
          <a:p>
            <a:pPr lvl="0"/>
            <a:r>
              <a:rPr lang="en-US" dirty="0" smtClean="0"/>
              <a:t>Cancellation Rate</a:t>
            </a:r>
            <a:br>
              <a:rPr lang="en-US" dirty="0" smtClean="0"/>
            </a:br>
            <a:endParaRPr lang="en-US" dirty="0" smtClean="0"/>
          </a:p>
          <a:p>
            <a:pPr lvl="0"/>
            <a:r>
              <a:rPr lang="en-US" dirty="0" smtClean="0"/>
              <a:t>Average Delivery Rating</a:t>
            </a:r>
            <a:br>
              <a:rPr lang="en-US" dirty="0" smtClean="0"/>
            </a:br>
            <a:endParaRPr lang="en-US" dirty="0" smtClean="0"/>
          </a:p>
          <a:p>
            <a:pPr lvl="0"/>
            <a:r>
              <a:rPr lang="en-US" dirty="0" smtClean="0"/>
              <a:t>Profit Margin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PowerBI Dashboard</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46957" y="1600200"/>
            <a:ext cx="8050085" cy="4525963"/>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KeyInsights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M</a:t>
            </a:r>
            <a:r>
              <a:rPr lang="en-US" dirty="0" smtClean="0"/>
              <a:t>ost </a:t>
            </a:r>
            <a:r>
              <a:rPr lang="en-US" dirty="0" smtClean="0"/>
              <a:t>common order value range 1000-1200</a:t>
            </a:r>
          </a:p>
          <a:p>
            <a:r>
              <a:rPr lang="en-US" dirty="0" smtClean="0"/>
              <a:t>Commonly 100–110 </a:t>
            </a:r>
            <a:r>
              <a:rPr lang="en-US" dirty="0" smtClean="0"/>
              <a:t>minutes delivery time</a:t>
            </a:r>
          </a:p>
          <a:p>
            <a:r>
              <a:rPr lang="en-US" dirty="0" smtClean="0"/>
              <a:t>Delayed </a:t>
            </a:r>
            <a:r>
              <a:rPr lang="en-US" dirty="0" smtClean="0"/>
              <a:t>deliveries that may impact customer satisfaction.</a:t>
            </a:r>
          </a:p>
          <a:p>
            <a:r>
              <a:rPr lang="en-US" dirty="0" smtClean="0"/>
              <a:t>Hyderabad has the highest number of orders among all cities</a:t>
            </a:r>
            <a:r>
              <a:rPr lang="en-US" dirty="0" smtClean="0"/>
              <a:t>.</a:t>
            </a:r>
          </a:p>
          <a:p>
            <a:r>
              <a:rPr lang="en-US" dirty="0" smtClean="0"/>
              <a:t>This suggests orders are driven by workdays, office meals, and routine schedules.</a:t>
            </a:r>
          </a:p>
          <a:p>
            <a:r>
              <a:rPr lang="en-US" dirty="0" smtClean="0"/>
              <a:t>Hyderabad </a:t>
            </a:r>
            <a:r>
              <a:rPr lang="en-US" dirty="0" smtClean="0"/>
              <a:t>generates the highest total revenue among all cities</a:t>
            </a:r>
          </a:p>
          <a:p>
            <a:r>
              <a:rPr lang="en-US" dirty="0" smtClean="0"/>
              <a:t>Late delivery is the most common cancellation reason across all cities.</a:t>
            </a:r>
          </a:p>
          <a:p>
            <a:r>
              <a:rPr lang="en-US" dirty="0" smtClean="0"/>
              <a:t>Indian cuisine has the highest number of orders.</a:t>
            </a:r>
          </a:p>
          <a:p>
            <a:r>
              <a:rPr lang="en-US" dirty="0" smtClean="0"/>
              <a:t>Weekday orders are higher than weekend orders.</a:t>
            </a:r>
          </a:p>
          <a:p>
            <a:r>
              <a:rPr lang="en-US" dirty="0" smtClean="0"/>
              <a:t>Zero-Discount </a:t>
            </a:r>
            <a:r>
              <a:rPr lang="en-US" dirty="0" smtClean="0"/>
              <a:t>Orders Are Slightly More </a:t>
            </a:r>
            <a:r>
              <a:rPr lang="en-US" dirty="0" smtClean="0"/>
              <a:t>Profitable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a:t>
            </a:r>
            <a:r>
              <a:rPr lang="en-US" dirty="0" err="1" smtClean="0"/>
              <a:t>Recommandations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Focusing on Hyderabad can help improve customer engagement and revenue </a:t>
            </a:r>
            <a:r>
              <a:rPr lang="en-US" dirty="0" smtClean="0"/>
              <a:t>growth</a:t>
            </a:r>
          </a:p>
          <a:p>
            <a:r>
              <a:rPr lang="en-US" dirty="0" smtClean="0"/>
              <a:t>Strategies </a:t>
            </a:r>
            <a:r>
              <a:rPr lang="en-US" dirty="0" smtClean="0"/>
              <a:t>like office lunch deals and weekday subscriptions can increase revenue </a:t>
            </a:r>
            <a:r>
              <a:rPr lang="en-US" dirty="0" smtClean="0"/>
              <a:t>further</a:t>
            </a:r>
          </a:p>
          <a:p>
            <a:r>
              <a:rPr lang="en-US" dirty="0" smtClean="0"/>
              <a:t>Reduce the Delivery delay for that add more delivery partners </a:t>
            </a:r>
          </a:p>
          <a:p>
            <a:r>
              <a:rPr lang="en-US" dirty="0" smtClean="0"/>
              <a:t>Make Campion and advertisement in all cities</a:t>
            </a:r>
          </a:p>
          <a:p>
            <a:r>
              <a:rPr lang="en-US" dirty="0" smtClean="0"/>
              <a:t>Handel the peek hour order properly</a:t>
            </a:r>
          </a:p>
          <a:p>
            <a:r>
              <a:rPr lang="en-US" dirty="0" smtClean="0"/>
              <a:t>Increasing so offers can increase the orders </a:t>
            </a:r>
            <a:endParaRPr lang="en-US" dirty="0" smtClean="0"/>
          </a:p>
          <a:p>
            <a:endParaRPr lang="en-US" dirty="0" smtClean="0"/>
          </a:p>
          <a:p>
            <a:endParaRPr lang="en-US"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619672" y="2996952"/>
          <a:ext cx="6120680" cy="792088"/>
        </p:xfrm>
        <a:graphic>
          <a:graphicData uri="http://schemas.openxmlformats.org/drawingml/2006/table">
            <a:tbl>
              <a:tblPr firstRow="1" bandRow="1">
                <a:tableStyleId>{5C22544A-7EE6-4342-B048-85BDC9FD1C3A}</a:tableStyleId>
              </a:tblPr>
              <a:tblGrid>
                <a:gridCol w="6120680"/>
              </a:tblGrid>
              <a:tr h="792088">
                <a:tc>
                  <a:txBody>
                    <a:bodyPr/>
                    <a:lstStyle/>
                    <a:p>
                      <a:pPr algn="l"/>
                      <a:r>
                        <a:rPr lang="en-US" dirty="0" smtClean="0"/>
                        <a:t>                                           </a:t>
                      </a:r>
                      <a:r>
                        <a:rPr lang="en-US" sz="4000" dirty="0" smtClean="0"/>
                        <a:t>Thank you</a:t>
                      </a:r>
                      <a:endParaRPr lang="en-US" sz="4000" dirty="0"/>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1542</TotalTime>
  <Words>974</Words>
  <Application>Microsoft Office PowerPoint</Application>
  <PresentationFormat>On-screen Show (4:3)</PresentationFormat>
  <Paragraphs>145</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Online Food Delivery Analysis</vt:lpstr>
      <vt:lpstr>Tools &amp; Technologies </vt:lpstr>
      <vt:lpstr>Problem Statement</vt:lpstr>
      <vt:lpstr>Objectives</vt:lpstr>
      <vt:lpstr>Data Cleaning &amp; Preprocessing</vt:lpstr>
      <vt:lpstr> Distribution of order values and delivery time </vt:lpstr>
      <vt:lpstr>Slide 7</vt:lpstr>
      <vt:lpstr>Slide 8</vt:lpstr>
      <vt:lpstr>Slide 9</vt:lpstr>
      <vt:lpstr>Delivery time </vt:lpstr>
      <vt:lpstr>Slide 11</vt:lpstr>
      <vt:lpstr>Slide 12</vt:lpstr>
      <vt:lpstr>Slide 13</vt:lpstr>
      <vt:lpstr>City-wise order analysis</vt:lpstr>
      <vt:lpstr>City Wise Order</vt:lpstr>
      <vt:lpstr>City wise revenue</vt:lpstr>
      <vt:lpstr>City wise revenue</vt:lpstr>
      <vt:lpstr>City wise cancel reason</vt:lpstr>
      <vt:lpstr>City wise cancel reason</vt:lpstr>
      <vt:lpstr>Cuisine wise analysis</vt:lpstr>
      <vt:lpstr>Cuisine wise analysis</vt:lpstr>
      <vt:lpstr>Weekday vs weekend analysis</vt:lpstr>
      <vt:lpstr>Weekday vs weekend analysis</vt:lpstr>
      <vt:lpstr>Distance vs delivery delay relationship </vt:lpstr>
      <vt:lpstr>Slide 25</vt:lpstr>
      <vt:lpstr>Cancellation reasons analysis</vt:lpstr>
      <vt:lpstr>Cancellation reasons analysis</vt:lpstr>
      <vt:lpstr> Correlation analysis among numeric features </vt:lpstr>
      <vt:lpstr>Correlation</vt:lpstr>
      <vt:lpstr>Data Storage (MySQL)</vt:lpstr>
      <vt:lpstr>Analyst Tasks</vt:lpstr>
      <vt:lpstr>DASHBOARD - POWER-BI</vt:lpstr>
      <vt:lpstr>PowerBI Dashboard</vt:lpstr>
      <vt:lpstr>KeyInsights</vt:lpstr>
      <vt:lpstr>Business Recommandations</vt:lpstr>
      <vt:lpstr>Slide 36</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30</cp:revision>
  <dcterms:created xsi:type="dcterms:W3CDTF">2026-02-13T03:57:37Z</dcterms:created>
  <dcterms:modified xsi:type="dcterms:W3CDTF">2026-02-19T04:48:57Z</dcterms:modified>
</cp:coreProperties>
</file>